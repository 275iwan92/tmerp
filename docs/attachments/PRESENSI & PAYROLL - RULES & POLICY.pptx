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Lexend Light"/>
      <p:regular r:id="rId28"/>
      <p:bold r:id="rId29"/>
    </p:embeddedFont>
    <p:embeddedFont>
      <p:font typeface="Lexend Medium"/>
      <p:regular r:id="rId30"/>
      <p:bold r:id="rId31"/>
    </p:embeddedFont>
    <p:embeddedFont>
      <p:font typeface="Lexend"/>
      <p:regular r:id="rId32"/>
      <p:bold r:id="rId33"/>
    </p:embeddedFont>
    <p:embeddedFont>
      <p:font typeface="Lexend ExtraLight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CDAD6B-FAFF-477F-ABCE-B497714F0441}">
  <a:tblStyle styleId="{C0CDAD6B-FAFF-477F-ABCE-B497714F04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Ligh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Medium-bold.fntdata"/><Relationship Id="rId30" Type="http://schemas.openxmlformats.org/officeDocument/2006/relationships/font" Target="fonts/LexendMedium-regular.fntdata"/><Relationship Id="rId11" Type="http://schemas.openxmlformats.org/officeDocument/2006/relationships/slide" Target="slides/slide5.xml"/><Relationship Id="rId33" Type="http://schemas.openxmlformats.org/officeDocument/2006/relationships/font" Target="fonts/Lexend-bold.fntdata"/><Relationship Id="rId10" Type="http://schemas.openxmlformats.org/officeDocument/2006/relationships/slide" Target="slides/slide4.xml"/><Relationship Id="rId32" Type="http://schemas.openxmlformats.org/officeDocument/2006/relationships/font" Target="fonts/Lexend-regular.fntdata"/><Relationship Id="rId13" Type="http://schemas.openxmlformats.org/officeDocument/2006/relationships/slide" Target="slides/slide7.xml"/><Relationship Id="rId35" Type="http://schemas.openxmlformats.org/officeDocument/2006/relationships/font" Target="fonts/LexendExtraLight-bold.fntdata"/><Relationship Id="rId12" Type="http://schemas.openxmlformats.org/officeDocument/2006/relationships/slide" Target="slides/slide6.xml"/><Relationship Id="rId34" Type="http://schemas.openxmlformats.org/officeDocument/2006/relationships/font" Target="fonts/LexendExtraLight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200f8e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200f8e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4200f8e1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4200f8e1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4200f8e1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4200f8e1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4200f8e1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4200f8e1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4200f8e1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4200f8e1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ae4eb8b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ae4eb8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3509af5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3509af5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cdbd005a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cdbd005a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cc5e7aa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cc5e7aa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cc5e7aa1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cc5e7aa1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cdbd005a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cdbd005a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cc5e7aa13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cc5e7aa1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cc5e7aa1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cc5e7aa1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cc5e7aa13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cc5e7aa13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cdbd005a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cdbd005a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cdbd005a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cdbd005a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cdbd005a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cdbd005a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4200f8e1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4200f8e1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4200f8e1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4200f8e1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4200f8e1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4200f8e1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exend Medium"/>
              <a:buNone/>
              <a:defRPr sz="2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Light"/>
              <a:buChar char="●"/>
              <a:defRPr sz="16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hcq6gC7aerX-PcaksqoMSo24jTyWqaj7sspOQPEhMds/edit?gid=1974392117#gid=1974392117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jpg"/><Relationship Id="rId4" Type="http://schemas.openxmlformats.org/officeDocument/2006/relationships/image" Target="../media/image2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Relationship Id="rId4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19.jpg"/><Relationship Id="rId5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Relationship Id="rId4" Type="http://schemas.openxmlformats.org/officeDocument/2006/relationships/image" Target="../media/image2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PRESENSI &amp; PAYROLL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&amp; POLICY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PRESENSI - KETERLAMBATAN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020375" y="1152475"/>
            <a:ext cx="3812100" cy="3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Kita asumsikan Jam Masuk pada 07:30 dan Jam Pulang pada 17:00.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T-5		: Potongan Bonus Pagi senilai Rp 10.000</a:t>
            </a:r>
            <a:endParaRPr sz="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T+5		: Potongan Bonus Pagi senilai Rp 10.000,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Denda keterlambatan senilai Rp 25.000,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gaji pokok sejumlah menit keterlambatan.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		: Potongan gaji pokok sejumlah menit hilang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/>
          </a:p>
        </p:txBody>
      </p:sp>
      <p:cxnSp>
        <p:nvCxnSpPr>
          <p:cNvPr id="62" name="Google Shape;62;p14"/>
          <p:cNvCxnSpPr/>
          <p:nvPr/>
        </p:nvCxnSpPr>
        <p:spPr>
          <a:xfrm>
            <a:off x="585300" y="1580100"/>
            <a:ext cx="261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3" name="Google Shape;63;p14"/>
          <p:cNvSpPr txBox="1"/>
          <p:nvPr/>
        </p:nvSpPr>
        <p:spPr>
          <a:xfrm>
            <a:off x="311700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818044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7:00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671590" y="2134100"/>
            <a:ext cx="25266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6" name="Google Shape;66;p14"/>
          <p:cNvSpPr txBox="1"/>
          <p:nvPr/>
        </p:nvSpPr>
        <p:spPr>
          <a:xfrm>
            <a:off x="496375" y="1706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07:32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818044" y="1706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207919" y="1964750"/>
            <a:ext cx="184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Terlambat &lt;5 menit (T-5)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857972" y="2731075"/>
            <a:ext cx="23400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70" name="Google Shape;70;p14"/>
          <p:cNvSpPr txBox="1"/>
          <p:nvPr/>
        </p:nvSpPr>
        <p:spPr>
          <a:xfrm>
            <a:off x="872575" y="2303450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07:45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818044" y="2303450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207919" y="2561725"/>
            <a:ext cx="184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Terlambat &gt;5 menit (T+5)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615575" y="3328050"/>
            <a:ext cx="14910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74" name="Google Shape;74;p14"/>
          <p:cNvSpPr txBox="1"/>
          <p:nvPr/>
        </p:nvSpPr>
        <p:spPr>
          <a:xfrm>
            <a:off x="345911" y="290042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776907" y="290042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207919" y="3158700"/>
            <a:ext cx="184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(PA)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PRESENSI - PULANG AWAL</a:t>
            </a: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813900" y="1580100"/>
            <a:ext cx="261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3" name="Google Shape;83;p15"/>
          <p:cNvSpPr txBox="1"/>
          <p:nvPr/>
        </p:nvSpPr>
        <p:spPr>
          <a:xfrm>
            <a:off x="540300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046644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2005507" y="166902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2615752" y="1927300"/>
            <a:ext cx="23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(PA)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813900" y="2110184"/>
            <a:ext cx="15624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8" name="Google Shape;88;p15"/>
          <p:cNvSpPr txBox="1"/>
          <p:nvPr/>
        </p:nvSpPr>
        <p:spPr>
          <a:xfrm>
            <a:off x="540300" y="1682559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005507" y="2273263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615752" y="2531544"/>
            <a:ext cx="23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&amp; Terlambat &lt;5 menit (PAT-5)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" name="Google Shape;91;p15"/>
          <p:cNvCxnSpPr/>
          <p:nvPr/>
        </p:nvCxnSpPr>
        <p:spPr>
          <a:xfrm>
            <a:off x="905725" y="2714425"/>
            <a:ext cx="14706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2" name="Google Shape;92;p15"/>
          <p:cNvSpPr txBox="1"/>
          <p:nvPr/>
        </p:nvSpPr>
        <p:spPr>
          <a:xfrm>
            <a:off x="643859" y="2286797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07:32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005507" y="2943713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615752" y="3201994"/>
            <a:ext cx="23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&amp; Terlambat &gt;5 menit (PAT+5)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" name="Google Shape;95;p15"/>
          <p:cNvCxnSpPr/>
          <p:nvPr/>
        </p:nvCxnSpPr>
        <p:spPr>
          <a:xfrm>
            <a:off x="1056200" y="3384875"/>
            <a:ext cx="13200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5"/>
          <p:cNvSpPr txBox="1"/>
          <p:nvPr/>
        </p:nvSpPr>
        <p:spPr>
          <a:xfrm>
            <a:off x="796259" y="2957247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07:45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5020375" y="1152475"/>
            <a:ext cx="3812100" cy="3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Kita asumsikan Jam Masuk pada 07:30 dan Jam Pulang pada 17:00.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		: Potongan gaji pokok sejumlah menit hilang</a:t>
            </a:r>
            <a:endParaRPr sz="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PAT-5	: Potongan gaji pokok sejumlah menit hilang,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Bonus Pagi senilai Rp 10.000</a:t>
            </a:r>
            <a:endParaRPr sz="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PAT+5	: Potongan gaji pokok sejumlah menit hilang,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Bonus Pagi senilai Rp 10.000,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Denda keterlambatan senilai Rp 25.000,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gaji pokok sejumlah menit keterlambatan.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PRESENSI - PULANG AWAL &amp; LEMBUR AWAL</a:t>
            </a:r>
            <a:endParaRPr/>
          </a:p>
        </p:txBody>
      </p:sp>
      <p:cxnSp>
        <p:nvCxnSpPr>
          <p:cNvPr id="103" name="Google Shape;103;p16"/>
          <p:cNvCxnSpPr/>
          <p:nvPr/>
        </p:nvCxnSpPr>
        <p:spPr>
          <a:xfrm>
            <a:off x="813900" y="1580100"/>
            <a:ext cx="261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4" name="Google Shape;104;p16"/>
          <p:cNvSpPr txBox="1"/>
          <p:nvPr/>
        </p:nvSpPr>
        <p:spPr>
          <a:xfrm>
            <a:off x="540300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3046644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005507" y="182032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615752" y="2078600"/>
            <a:ext cx="23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(PA) &amp; Lembur Awal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>
            <a:off x="813900" y="2261484"/>
            <a:ext cx="15624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9" name="Google Shape;109;p16"/>
          <p:cNvSpPr txBox="1"/>
          <p:nvPr/>
        </p:nvSpPr>
        <p:spPr>
          <a:xfrm>
            <a:off x="540300" y="1833859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" name="Google Shape;110;p16"/>
          <p:cNvCxnSpPr/>
          <p:nvPr/>
        </p:nvCxnSpPr>
        <p:spPr>
          <a:xfrm>
            <a:off x="586683" y="2261484"/>
            <a:ext cx="349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1" name="Google Shape;111;p16"/>
          <p:cNvSpPr txBox="1"/>
          <p:nvPr/>
        </p:nvSpPr>
        <p:spPr>
          <a:xfrm>
            <a:off x="-27300" y="2092134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Lexend"/>
                <a:ea typeface="Lexend"/>
                <a:cs typeface="Lexend"/>
                <a:sym typeface="Lexend"/>
              </a:rPr>
              <a:t>05:30</a:t>
            </a:r>
            <a:endParaRPr sz="1000">
              <a:solidFill>
                <a:srgbClr val="9999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2005507" y="24245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615752" y="2682850"/>
            <a:ext cx="23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&amp; Terlambat &lt;5 menit (PAT-5) + Lembur Awal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" name="Google Shape;114;p16"/>
          <p:cNvCxnSpPr/>
          <p:nvPr/>
        </p:nvCxnSpPr>
        <p:spPr>
          <a:xfrm>
            <a:off x="813900" y="2869005"/>
            <a:ext cx="15624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5" name="Google Shape;115;p16"/>
          <p:cNvSpPr txBox="1"/>
          <p:nvPr/>
        </p:nvSpPr>
        <p:spPr>
          <a:xfrm>
            <a:off x="540300" y="2438109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" name="Google Shape;116;p16"/>
          <p:cNvCxnSpPr>
            <a:stCxn id="117" idx="3"/>
          </p:cNvCxnSpPr>
          <p:nvPr/>
        </p:nvCxnSpPr>
        <p:spPr>
          <a:xfrm>
            <a:off x="622500" y="2865734"/>
            <a:ext cx="314100" cy="3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7" name="Google Shape;117;p16"/>
          <p:cNvSpPr txBox="1"/>
          <p:nvPr/>
        </p:nvSpPr>
        <p:spPr>
          <a:xfrm>
            <a:off x="-27300" y="2696384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Lexend"/>
                <a:ea typeface="Lexend"/>
                <a:cs typeface="Lexend"/>
                <a:sym typeface="Lexend"/>
              </a:rPr>
              <a:t>05:32</a:t>
            </a:r>
            <a:endParaRPr sz="1000">
              <a:solidFill>
                <a:srgbClr val="9999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005507" y="31797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615752" y="3438050"/>
            <a:ext cx="23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Pulang Awal &amp; Terlambat &gt;5 menit (PAT+5) + Lembur Awal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" name="Google Shape;120;p16"/>
          <p:cNvCxnSpPr/>
          <p:nvPr/>
        </p:nvCxnSpPr>
        <p:spPr>
          <a:xfrm>
            <a:off x="813900" y="3624205"/>
            <a:ext cx="15624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21" name="Google Shape;121;p16"/>
          <p:cNvSpPr txBox="1"/>
          <p:nvPr/>
        </p:nvSpPr>
        <p:spPr>
          <a:xfrm>
            <a:off x="540300" y="3193309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" name="Google Shape;122;p16"/>
          <p:cNvCxnSpPr/>
          <p:nvPr/>
        </p:nvCxnSpPr>
        <p:spPr>
          <a:xfrm>
            <a:off x="666830" y="3624200"/>
            <a:ext cx="2694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23" name="Google Shape;123;p16"/>
          <p:cNvSpPr txBox="1"/>
          <p:nvPr/>
        </p:nvSpPr>
        <p:spPr>
          <a:xfrm>
            <a:off x="-27300" y="3451584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Lexend"/>
                <a:ea typeface="Lexend"/>
                <a:cs typeface="Lexend"/>
                <a:sym typeface="Lexend"/>
              </a:rPr>
              <a:t>05:45</a:t>
            </a:r>
            <a:endParaRPr sz="1000">
              <a:solidFill>
                <a:srgbClr val="99999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5172775" y="1304875"/>
            <a:ext cx="3812100" cy="3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Kita asumsikan Jam Masuk pada 07:30 dan Jam Pulang pada 17:00.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		: Potongan gaji pokok sejumlah menit hilang</a:t>
            </a:r>
            <a:endParaRPr sz="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PAT-5	: Potongan gaji pokok sejumlah menit hilang,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Bonus Pagi senilai Rp 10.000</a:t>
            </a:r>
            <a:endParaRPr sz="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PAT+5	: Potongan gaji pokok sejumlah menit hilang,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Bonus Pagi senilai Rp 10.000,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Denda keterlambatan senilai Rp 25.000,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Potongan gaji pokok sejumlah menit keterlambatan.</a:t>
            </a:r>
            <a:endParaRPr sz="900"/>
          </a:p>
          <a:p>
            <a:pPr indent="0" lvl="0" marL="971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Sedangkan perhitungan Lembur tetap berdasar </a:t>
            </a:r>
            <a:r>
              <a:rPr lang="en" sz="900">
                <a:latin typeface="Lexend"/>
                <a:ea typeface="Lexend"/>
                <a:cs typeface="Lexend"/>
                <a:sym typeface="Lexend"/>
              </a:rPr>
              <a:t>Durasi Lembur</a:t>
            </a:r>
            <a:r>
              <a:rPr lang="en" sz="900"/>
              <a:t> dan </a:t>
            </a:r>
            <a:r>
              <a:rPr lang="en" sz="900">
                <a:latin typeface="Lexend"/>
                <a:ea typeface="Lexend"/>
                <a:cs typeface="Lexend"/>
                <a:sym typeface="Lexend"/>
              </a:rPr>
              <a:t>Surat Lembur</a:t>
            </a:r>
            <a:r>
              <a:rPr lang="en" sz="900"/>
              <a:t> yang di approved oleh Atasan Langsung.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PRESENSI - LEMBUR</a:t>
            </a:r>
            <a:endParaRPr/>
          </a:p>
        </p:txBody>
      </p:sp>
      <p:cxnSp>
        <p:nvCxnSpPr>
          <p:cNvPr id="130" name="Google Shape;130;p17"/>
          <p:cNvCxnSpPr/>
          <p:nvPr/>
        </p:nvCxnSpPr>
        <p:spPr>
          <a:xfrm>
            <a:off x="813900" y="1580100"/>
            <a:ext cx="261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31" name="Google Shape;131;p17"/>
          <p:cNvSpPr txBox="1"/>
          <p:nvPr/>
        </p:nvSpPr>
        <p:spPr>
          <a:xfrm>
            <a:off x="540300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046644" y="115247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2005507" y="182032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763900" y="2078600"/>
            <a:ext cx="10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Lembur Awal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(LAw)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40300" y="1833859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-27300" y="2092134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05:30</a:t>
            </a:r>
            <a:endParaRPr sz="10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" name="Google Shape;137;p17"/>
          <p:cNvCxnSpPr/>
          <p:nvPr/>
        </p:nvCxnSpPr>
        <p:spPr>
          <a:xfrm>
            <a:off x="813900" y="2257313"/>
            <a:ext cx="26127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38" name="Google Shape;138;p17"/>
          <p:cNvSpPr txBox="1"/>
          <p:nvPr/>
        </p:nvSpPr>
        <p:spPr>
          <a:xfrm>
            <a:off x="2005507" y="2430825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17:00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763900" y="2689100"/>
            <a:ext cx="108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Lembur Akhir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(LAk)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40300" y="2444359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F9000"/>
                </a:solidFill>
                <a:latin typeface="Lexend"/>
                <a:ea typeface="Lexend"/>
                <a:cs typeface="Lexend"/>
                <a:sym typeface="Lexend"/>
              </a:rPr>
              <a:t>07:30</a:t>
            </a:r>
            <a:endParaRPr sz="1000">
              <a:solidFill>
                <a:srgbClr val="BF9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" name="Google Shape;141;p17"/>
          <p:cNvCxnSpPr/>
          <p:nvPr/>
        </p:nvCxnSpPr>
        <p:spPr>
          <a:xfrm>
            <a:off x="813900" y="2867813"/>
            <a:ext cx="2612700" cy="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42" name="Google Shape;142;p17"/>
          <p:cNvCxnSpPr/>
          <p:nvPr/>
        </p:nvCxnSpPr>
        <p:spPr>
          <a:xfrm>
            <a:off x="3304609" y="2868240"/>
            <a:ext cx="3498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43" name="Google Shape;143;p17"/>
          <p:cNvSpPr txBox="1"/>
          <p:nvPr/>
        </p:nvSpPr>
        <p:spPr>
          <a:xfrm>
            <a:off x="3266982" y="2931234"/>
            <a:ext cx="6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rPr>
              <a:t>05:30</a:t>
            </a:r>
            <a:endParaRPr sz="1000">
              <a:solidFill>
                <a:srgbClr val="66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5020375" y="1152475"/>
            <a:ext cx="3812100" cy="3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Kita asumsikan Jam Masuk pada 07:30 dan Jam Pulang pada 17:00.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LAw	: Lembur di awal shift</a:t>
            </a:r>
            <a:endParaRPr sz="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LAk	: Lembur di akhir shift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Adapun case dimana PIC ditugaskan Lembur Awal &amp; Akhir di hari yang sama.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Sehingga cara perhitungan Lembur bisa diambil dari Durasi total lembur sesuai Sheet Rekap Lembur.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 u="sng">
                <a:solidFill>
                  <a:schemeClr val="hlink"/>
                </a:solidFill>
                <a:hlinkClick r:id="rId3"/>
              </a:rPr>
              <a:t>https://docs.google.com/spreadsheets/d/1hcq6gC7aerX-PcaksqoMSo24jTyWqaj7sspOQPEhMds/edit?gid=1974392117#gid=1974392117</a:t>
            </a:r>
            <a:endParaRPr i="1"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Catatan lain, lembur di atas 2 jam untuk Staff &amp; SPV Produksi akan mendapat Uang Roti senilai Rp 5.000, tidak berlaku kelipatan.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/>
          </a:p>
        </p:txBody>
      </p:sp>
      <p:cxnSp>
        <p:nvCxnSpPr>
          <p:cNvPr id="145" name="Google Shape;145;p17"/>
          <p:cNvCxnSpPr/>
          <p:nvPr/>
        </p:nvCxnSpPr>
        <p:spPr>
          <a:xfrm>
            <a:off x="584208" y="2261484"/>
            <a:ext cx="349800" cy="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PRESENSI LAIN</a:t>
            </a:r>
            <a:endParaRPr/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Hadir (H)		: Status Presensi jika Karyawan tidak terlambat/pulang awal dan Durasi Kerja &gt;3 jam.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Izin (I)			: Status Presensi jika Karyawan tidak masuk dengan pengajuan mendadak.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Izin Disetujui (IS)	: Status</a:t>
            </a:r>
            <a:r>
              <a:rPr lang="en" sz="900"/>
              <a:t> Presensi jika Karyawan tidak masuk dengan pengajuan min. H-3.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Cuti (C)		: Status Presensi jika Karyawan tidak masuk dengan pengajuan Cuti dan di approved oleh atasan Langsung.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Cuti Melahirkan (CL)	: Status Presensi jika Karyawan tidak masuk karena melahirkan selama max. 2 bulan terbayar, atau max. 3 bulan </a:t>
            </a:r>
            <a:endParaRPr sz="900"/>
          </a:p>
          <a:p>
            <a:pPr indent="0" lvl="0" marL="142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dimana hanya terbayar 2 bulan &amp; 1 bulan tanpa dibayar.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Sakit (S)		: Status Presensi jika Karyawan tidak masuk dengan Surat Dokter.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Alpha (A)		: Status Presensi jika Karyawan tidak masuk tanpa izin.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Finger (F)		: Status Presensi jika Karyawan tidak Finger 1x atau 2x, dengan potongan Rp 10.000 per jumlah Tidak Finger.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Skorsing (SKR)		: Status Presensi jika Karyawan diberi penalty berupa Skorsing.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Dirumahkan (DRM)	: Status Presensi jika Karyawan dirumahkan, dan dapat dipanggil bekerja kembali sewaktu-waktu sesuai kebutuhan Perusahaan.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 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Terlambat &lt;5 menit (T-5)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Terlambat &gt;5 menit (T+5)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Pulang Awal (PA)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Pulang Awal &amp; Terlambat &lt;5 menit (PAT-5)</a:t>
            </a:r>
            <a:endParaRPr sz="900"/>
          </a:p>
          <a:p>
            <a:pPr indent="-11430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Pulang Awal &amp; Terlambat &gt;5 menit (PAT+5)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666800" y="208295"/>
            <a:ext cx="767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PAYROLL BERDASARKAN STATUS PRESENSI</a:t>
            </a:r>
            <a:endParaRPr/>
          </a:p>
        </p:txBody>
      </p:sp>
      <p:graphicFrame>
        <p:nvGraphicFramePr>
          <p:cNvPr id="157" name="Google Shape;157;p19"/>
          <p:cNvGraphicFramePr/>
          <p:nvPr/>
        </p:nvGraphicFramePr>
        <p:xfrm>
          <a:off x="414800" y="781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{C0CDAD6B-FAFF-477F-ABCE-B497714F0441}</a:tableStyleId>
              </a:tblPr>
              <a:tblGrid>
                <a:gridCol w="1198975"/>
                <a:gridCol w="786225"/>
                <a:gridCol w="786225"/>
                <a:gridCol w="786225"/>
                <a:gridCol w="802950"/>
                <a:gridCol w="752925"/>
                <a:gridCol w="791675"/>
                <a:gridCol w="769450"/>
                <a:gridCol w="1845950"/>
              </a:tblGrid>
              <a:tr h="37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STATUS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GAJI POKOK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TJ. KEAHLIAN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TJ. LOYALITAS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TJ. PRESTASI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BONUS PAGI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BONUS HADIR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DENDA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CATATAN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Hadir (H)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Sakit (S)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Wajib ada surat dokter + kwitansi / surat obat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Izin (I)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Rp   25.000,-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Izin disetujui (IS)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Alpha (A)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Rp 100.000,-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Tidak Finger 1x (F)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Tidak Finger 2x (FF)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Cuti </a:t>
                      </a: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(C)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Wajib diberikan H-7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Cuti Melahirkan (CL)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Dirumahkan (DRM)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1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Skorsing (SKR)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37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SP 1 (SP1)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50%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Potongan 50% Selama 3 hari berturut - turut 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37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SP 2 (SP2)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/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50%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Potongan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50% </a:t>
                      </a: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Selama 7 hari berturut - turut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33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SP 3 (SP3)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Skorsing selama 7 hari / PHK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666800" y="208295"/>
            <a:ext cx="767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PAYROLL BERDASARKAN STATUS PRESENSI</a:t>
            </a:r>
            <a:endParaRPr/>
          </a:p>
        </p:txBody>
      </p:sp>
      <p:graphicFrame>
        <p:nvGraphicFramePr>
          <p:cNvPr id="163" name="Google Shape;163;p20"/>
          <p:cNvGraphicFramePr/>
          <p:nvPr/>
        </p:nvGraphicFramePr>
        <p:xfrm>
          <a:off x="374875" y="781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{C0CDAD6B-FAFF-477F-ABCE-B497714F0441}</a:tableStyleId>
              </a:tblPr>
              <a:tblGrid>
                <a:gridCol w="1198975"/>
                <a:gridCol w="786225"/>
                <a:gridCol w="786225"/>
                <a:gridCol w="786225"/>
                <a:gridCol w="802950"/>
                <a:gridCol w="752925"/>
                <a:gridCol w="791675"/>
                <a:gridCol w="769450"/>
                <a:gridCol w="1845950"/>
              </a:tblGrid>
              <a:tr h="3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STATUS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GAJI POKOK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TJ. KEAHLIAN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TJ. LOYALITAS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TJ. PRESTASI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BONUS PAGI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BONUS HADIR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DENDA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CATATAN</a:t>
                      </a:r>
                      <a:endParaRPr sz="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9125" marB="9125" marR="45700" marL="45700" anchor="ctr"/>
                </a:tc>
              </a:tr>
              <a:tr h="59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Keluar pada Jam Kerja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Potongan Gaji Pokok &amp; Tj. Keahlian berdasar prosentase Durasi Keterlambatan dan/atau Pulang Awal. Diisi secara manual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/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Pulang Awal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Potongan Gaji Pokok &amp; Tj. Keahlian berdasar prosentase Durasi Keterlambatan dan/atau Pulang Awal. 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/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Terlambat -5mnt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Terlambat +5mnt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b="1" sz="900">
                        <a:solidFill>
                          <a:srgbClr val="F4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Terlambat +15 menit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 (diperhitung-kan)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Rp 25.000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  <a:tr h="2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PAT -5mnt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  <a:tr h="2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PAT +5mnt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✔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rgbClr val="F4CCCC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F4CCCC"/>
                          </a:solidFill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✘</a:t>
                      </a:r>
                      <a:endParaRPr sz="900">
                        <a:solidFill>
                          <a:schemeClr val="dk1"/>
                        </a:solidFill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Lexend ExtraLight"/>
                          <a:ea typeface="Lexend ExtraLight"/>
                          <a:cs typeface="Lexend ExtraLight"/>
                          <a:sym typeface="Lexend ExtraLight"/>
                        </a:rPr>
                        <a:t>Rp 25.000</a:t>
                      </a:r>
                      <a:endParaRPr sz="900">
                        <a:latin typeface="Lexend ExtraLight"/>
                        <a:ea typeface="Lexend ExtraLight"/>
                        <a:cs typeface="Lexend ExtraLight"/>
                        <a:sym typeface="Lexend ExtraLight"/>
                      </a:endParaRPr>
                    </a:p>
                  </a:txBody>
                  <a:tcPr marT="9125" marB="9125" marR="45700" marL="457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31589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Penghitungan Jam Kerja Excel</a:t>
            </a:r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399350" y="1017725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Apabila jam finger:</a:t>
            </a:r>
            <a:endParaRPr sz="1136"/>
          </a:p>
        </p:txBody>
      </p:sp>
      <p:pic>
        <p:nvPicPr>
          <p:cNvPr id="170" name="Google Shape;170;p21" title="image (13).png"/>
          <p:cNvPicPr preferRelativeResize="0"/>
          <p:nvPr/>
        </p:nvPicPr>
        <p:blipFill rotWithShape="1">
          <a:blip r:embed="rId3">
            <a:alphaModFix/>
          </a:blip>
          <a:srcRect b="0" l="69267" r="0" t="0"/>
          <a:stretch/>
        </p:blipFill>
        <p:spPr>
          <a:xfrm>
            <a:off x="491960" y="1374478"/>
            <a:ext cx="833959" cy="664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2373543" y="1017725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Maka finger in: </a:t>
            </a:r>
            <a:endParaRPr sz="1136"/>
          </a:p>
        </p:txBody>
      </p:sp>
      <p:pic>
        <p:nvPicPr>
          <p:cNvPr id="172" name="Google Shape;172;p21" title="image (13).png"/>
          <p:cNvPicPr preferRelativeResize="0"/>
          <p:nvPr/>
        </p:nvPicPr>
        <p:blipFill rotWithShape="1">
          <a:blip r:embed="rId3">
            <a:alphaModFix/>
          </a:blip>
          <a:srcRect b="0" l="0" r="65479" t="0"/>
          <a:stretch/>
        </p:blipFill>
        <p:spPr>
          <a:xfrm>
            <a:off x="2455372" y="1374478"/>
            <a:ext cx="936747" cy="664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4466618" y="1017725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Maka finger out: </a:t>
            </a:r>
            <a:endParaRPr sz="1136"/>
          </a:p>
        </p:txBody>
      </p:sp>
      <p:pic>
        <p:nvPicPr>
          <p:cNvPr id="174" name="Google Shape;174;p21" title="image (13).png"/>
          <p:cNvPicPr preferRelativeResize="0"/>
          <p:nvPr/>
        </p:nvPicPr>
        <p:blipFill rotWithShape="1">
          <a:blip r:embed="rId3">
            <a:alphaModFix/>
          </a:blip>
          <a:srcRect b="0" l="34453" r="31025" t="0"/>
          <a:stretch/>
        </p:blipFill>
        <p:spPr>
          <a:xfrm>
            <a:off x="4566930" y="1374478"/>
            <a:ext cx="936747" cy="664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399350" y="2250998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Apabila jam finger:</a:t>
            </a:r>
            <a:endParaRPr sz="1136"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2373543" y="2250998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Maka finger in: </a:t>
            </a:r>
            <a:endParaRPr sz="1136"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4466618" y="2250998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Maka finger out: </a:t>
            </a:r>
            <a:endParaRPr sz="1136"/>
          </a:p>
        </p:txBody>
      </p:sp>
      <p:pic>
        <p:nvPicPr>
          <p:cNvPr id="178" name="Google Shape;178;p21" title="image (14).png"/>
          <p:cNvPicPr preferRelativeResize="0"/>
          <p:nvPr/>
        </p:nvPicPr>
        <p:blipFill rotWithShape="1">
          <a:blip r:embed="rId4">
            <a:alphaModFix/>
          </a:blip>
          <a:srcRect b="0" l="69267" r="0" t="0"/>
          <a:stretch/>
        </p:blipFill>
        <p:spPr>
          <a:xfrm>
            <a:off x="491960" y="2679661"/>
            <a:ext cx="833959" cy="66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title="image (14).png"/>
          <p:cNvPicPr preferRelativeResize="0"/>
          <p:nvPr/>
        </p:nvPicPr>
        <p:blipFill rotWithShape="1">
          <a:blip r:embed="rId4">
            <a:alphaModFix/>
          </a:blip>
          <a:srcRect b="0" l="0" r="65479" t="0"/>
          <a:stretch/>
        </p:blipFill>
        <p:spPr>
          <a:xfrm>
            <a:off x="2455373" y="2642609"/>
            <a:ext cx="936747" cy="66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title="image (14).png"/>
          <p:cNvPicPr preferRelativeResize="0"/>
          <p:nvPr/>
        </p:nvPicPr>
        <p:blipFill rotWithShape="1">
          <a:blip r:embed="rId4">
            <a:alphaModFix/>
          </a:blip>
          <a:srcRect b="0" l="34795" r="30683" t="0"/>
          <a:stretch/>
        </p:blipFill>
        <p:spPr>
          <a:xfrm>
            <a:off x="4566930" y="2595035"/>
            <a:ext cx="936747" cy="664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399350" y="3499786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Apabila jam finger:</a:t>
            </a:r>
            <a:endParaRPr sz="1136"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2373543" y="3499786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Maka finger in: </a:t>
            </a:r>
            <a:endParaRPr sz="1136"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4466618" y="3499786"/>
            <a:ext cx="2238300" cy="3066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Maka finger out: </a:t>
            </a:r>
            <a:endParaRPr sz="1136"/>
          </a:p>
        </p:txBody>
      </p:sp>
      <p:pic>
        <p:nvPicPr>
          <p:cNvPr id="184" name="Google Shape;184;p21" title="image (15).png"/>
          <p:cNvPicPr preferRelativeResize="0"/>
          <p:nvPr/>
        </p:nvPicPr>
        <p:blipFill rotWithShape="1">
          <a:blip r:embed="rId5">
            <a:alphaModFix/>
          </a:blip>
          <a:srcRect b="0" l="66593" r="0" t="0"/>
          <a:stretch/>
        </p:blipFill>
        <p:spPr>
          <a:xfrm>
            <a:off x="491950" y="3920000"/>
            <a:ext cx="833975" cy="6549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6286900" y="1374475"/>
            <a:ext cx="2238300" cy="6549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Keterangan:</a:t>
            </a:r>
            <a:br>
              <a:rPr lang="en" sz="1136"/>
            </a:br>
            <a:r>
              <a:rPr lang="en" sz="1136"/>
              <a:t>Datang tepat waktu</a:t>
            </a:r>
            <a:endParaRPr sz="1136"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6286900" y="2535037"/>
            <a:ext cx="2238300" cy="6549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Keterangan:</a:t>
            </a:r>
            <a:br>
              <a:rPr lang="en" sz="1136"/>
            </a:br>
            <a:r>
              <a:rPr lang="en" sz="1136"/>
              <a:t>Terlambat &gt;5 menit</a:t>
            </a:r>
            <a:endParaRPr sz="1136"/>
          </a:p>
        </p:txBody>
      </p:sp>
      <p:pic>
        <p:nvPicPr>
          <p:cNvPr id="187" name="Google Shape;187;p21" title="image (16).png"/>
          <p:cNvPicPr preferRelativeResize="0"/>
          <p:nvPr/>
        </p:nvPicPr>
        <p:blipFill rotWithShape="1">
          <a:blip r:embed="rId5">
            <a:alphaModFix/>
          </a:blip>
          <a:srcRect b="0" l="0" r="66337" t="0"/>
          <a:stretch/>
        </p:blipFill>
        <p:spPr>
          <a:xfrm>
            <a:off x="2467920" y="3920000"/>
            <a:ext cx="852121" cy="6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title="image (16).png"/>
          <p:cNvPicPr preferRelativeResize="0"/>
          <p:nvPr/>
        </p:nvPicPr>
        <p:blipFill rotWithShape="1">
          <a:blip r:embed="rId5">
            <a:alphaModFix/>
          </a:blip>
          <a:srcRect b="0" l="32779" r="33225" t="0"/>
          <a:stretch/>
        </p:blipFill>
        <p:spPr>
          <a:xfrm>
            <a:off x="4575818" y="3910725"/>
            <a:ext cx="852125" cy="657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6286900" y="3826004"/>
            <a:ext cx="2238300" cy="654900"/>
          </a:xfrm>
          <a:prstGeom prst="rect">
            <a:avLst/>
          </a:prstGeom>
        </p:spPr>
        <p:txBody>
          <a:bodyPr anchorCtr="0" anchor="t" bIns="78675" lIns="78675" spcFirstLastPara="1" rIns="78675" wrap="square" tIns="78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33"/>
              </a:spcAft>
              <a:buSzPts val="663"/>
              <a:buNone/>
            </a:pPr>
            <a:r>
              <a:rPr lang="en" sz="1136"/>
              <a:t>Keterangan:</a:t>
            </a:r>
            <a:br>
              <a:rPr lang="en" sz="1136"/>
            </a:br>
            <a:r>
              <a:rPr lang="en" sz="1136"/>
              <a:t>Keluar pada jam kerja selama 1 jam 3 menit.</a:t>
            </a:r>
            <a:endParaRPr sz="1136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Terlambat &lt;5 menit</a:t>
            </a:r>
            <a:endParaRPr/>
          </a:p>
        </p:txBody>
      </p:sp>
      <p:pic>
        <p:nvPicPr>
          <p:cNvPr id="195" name="Google Shape;195;p22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88" y="1267562"/>
            <a:ext cx="7951627" cy="183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title="imag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00" y="1527862"/>
            <a:ext cx="2832300" cy="321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3756575" y="1894000"/>
            <a:ext cx="5014500" cy="22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Terlambat &lt;5 menit, maka: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pagi hilang.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Terlambat &gt;5 menit</a:t>
            </a:r>
            <a:endParaRPr/>
          </a:p>
        </p:txBody>
      </p:sp>
      <p:pic>
        <p:nvPicPr>
          <p:cNvPr id="203" name="Google Shape;203;p23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87" y="1081031"/>
            <a:ext cx="8291750" cy="1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 title="imag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25" y="1476575"/>
            <a:ext cx="2636200" cy="2991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3735075" y="1915550"/>
            <a:ext cx="5014500" cy="22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Terlambat &gt;5 menit yaitu (6 - 15 menit) tidak lebih dari 3x, maka: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pagi hilang.</a:t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Terlambat &gt;5 dan &lt;5 menit</a:t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3896475" y="1915550"/>
            <a:ext cx="4935900" cy="22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Terlambat &gt;5 menit yaitu (6 - 15 menit) lebih dari 3x, maka: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pagi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Denda Rp25.000.</a:t>
            </a:r>
            <a:endParaRPr sz="1300"/>
          </a:p>
        </p:txBody>
      </p:sp>
      <p:pic>
        <p:nvPicPr>
          <p:cNvPr id="212" name="Google Shape;212;p24" title="image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75" y="1539338"/>
            <a:ext cx="2657274" cy="301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 title="image (2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3162"/>
            <a:ext cx="8839199" cy="203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Terlambat &gt;15 menit</a:t>
            </a:r>
            <a:endParaRPr/>
          </a:p>
        </p:txBody>
      </p:sp>
      <p:pic>
        <p:nvPicPr>
          <p:cNvPr id="219" name="Google Shape;219;p25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8061"/>
            <a:ext cx="8839199" cy="20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 title="image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125" y="1642125"/>
            <a:ext cx="2718449" cy="308475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896475" y="1915550"/>
            <a:ext cx="4935900" cy="22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Terlambat &gt;15 menit, maka: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pagi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Denda Rp25.000.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Pulang Awal &lt;5 menit</a:t>
            </a:r>
            <a:endParaRPr/>
          </a:p>
        </p:txBody>
      </p:sp>
      <p:pic>
        <p:nvPicPr>
          <p:cNvPr id="227" name="Google Shape;227;p26" title="image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0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 title="image (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301" y="1526250"/>
            <a:ext cx="2788300" cy="31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6"/>
          <p:cNvSpPr txBox="1"/>
          <p:nvPr>
            <p:ph idx="1" type="body"/>
          </p:nvPr>
        </p:nvSpPr>
        <p:spPr>
          <a:xfrm>
            <a:off x="3767350" y="1847975"/>
            <a:ext cx="5064900" cy="24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Pulang awal &lt;5 menit: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hadir hilang.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Pulang Awal &gt;15 menit</a:t>
            </a:r>
            <a:endParaRPr/>
          </a:p>
        </p:txBody>
      </p:sp>
      <p:pic>
        <p:nvPicPr>
          <p:cNvPr id="235" name="Google Shape;235;p27" title="image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00" y="1408200"/>
            <a:ext cx="2838701" cy="322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 title="image (1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625" y="1104875"/>
            <a:ext cx="8989193" cy="2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3767350" y="1847975"/>
            <a:ext cx="5064900" cy="24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Pulang awal &gt;5 menit: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hadir hilang.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Keluar Pada Jam Kerja</a:t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3767350" y="1847975"/>
            <a:ext cx="5064900" cy="24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Keluar pada jam kerja selama 2 jam maka: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Gaji pokok berkurang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Tunjangan keahlian berkeruang sesuai dengan jam kerja hilang;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Bonus hadir hilang.</a:t>
            </a:r>
            <a:endParaRPr sz="1400"/>
          </a:p>
        </p:txBody>
      </p:sp>
      <p:pic>
        <p:nvPicPr>
          <p:cNvPr id="244" name="Google Shape;244;p28" title="image 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25" y="1017725"/>
            <a:ext cx="8520599" cy="196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 title="image (1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25" y="1355751"/>
            <a:ext cx="2861725" cy="32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CUTI, IZIN, IZIN DISETUJUI, ALPHA</a:t>
            </a:r>
            <a:endParaRPr/>
          </a:p>
        </p:txBody>
      </p:sp>
      <p:sp>
        <p:nvSpPr>
          <p:cNvPr id="251" name="Google Shape;251;p29"/>
          <p:cNvSpPr txBox="1"/>
          <p:nvPr>
            <p:ph idx="1" type="body"/>
          </p:nvPr>
        </p:nvSpPr>
        <p:spPr>
          <a:xfrm>
            <a:off x="669904" y="3418151"/>
            <a:ext cx="1664400" cy="374400"/>
          </a:xfrm>
          <a:prstGeom prst="rect">
            <a:avLst/>
          </a:prstGeom>
        </p:spPr>
        <p:txBody>
          <a:bodyPr anchorCtr="0" anchor="t" bIns="67750" lIns="67750" spcFirstLastPara="1" rIns="67750" wrap="square" tIns="677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89"/>
              </a:spcAft>
              <a:buNone/>
            </a:pPr>
            <a:r>
              <a:rPr lang="en" sz="1186"/>
              <a:t>CUTI</a:t>
            </a:r>
            <a:endParaRPr sz="1186"/>
          </a:p>
        </p:txBody>
      </p:sp>
      <p:pic>
        <p:nvPicPr>
          <p:cNvPr id="252" name="Google Shape;252;p29" title="image (2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312" y="1170125"/>
            <a:ext cx="1881548" cy="2135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 title="image (2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297" y="1170125"/>
            <a:ext cx="1881548" cy="21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9" title="image (2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325" y="1170125"/>
            <a:ext cx="1881548" cy="213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2757915" y="3418151"/>
            <a:ext cx="1664400" cy="374400"/>
          </a:xfrm>
          <a:prstGeom prst="rect">
            <a:avLst/>
          </a:prstGeom>
        </p:spPr>
        <p:txBody>
          <a:bodyPr anchorCtr="0" anchor="t" bIns="67750" lIns="67750" spcFirstLastPara="1" rIns="67750" wrap="square" tIns="677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89"/>
              </a:spcAft>
              <a:buNone/>
            </a:pPr>
            <a:r>
              <a:rPr lang="en" sz="1186"/>
              <a:t>IZIN</a:t>
            </a:r>
            <a:endParaRPr sz="1186"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4885799" y="3458022"/>
            <a:ext cx="1664400" cy="374400"/>
          </a:xfrm>
          <a:prstGeom prst="rect">
            <a:avLst/>
          </a:prstGeom>
        </p:spPr>
        <p:txBody>
          <a:bodyPr anchorCtr="0" anchor="t" bIns="67750" lIns="67750" spcFirstLastPara="1" rIns="67750" wrap="square" tIns="677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89"/>
              </a:spcAft>
              <a:buNone/>
            </a:pPr>
            <a:r>
              <a:rPr lang="en" sz="1186"/>
              <a:t>IZIN DISETUJUI</a:t>
            </a:r>
            <a:endParaRPr sz="1186"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6910523" y="3458022"/>
            <a:ext cx="1664400" cy="374400"/>
          </a:xfrm>
          <a:prstGeom prst="rect">
            <a:avLst/>
          </a:prstGeom>
        </p:spPr>
        <p:txBody>
          <a:bodyPr anchorCtr="0" anchor="t" bIns="67750" lIns="67750" spcFirstLastPara="1" rIns="67750" wrap="square" tIns="677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89"/>
              </a:spcAft>
              <a:buNone/>
            </a:pPr>
            <a:r>
              <a:rPr lang="en" sz="1186"/>
              <a:t>ALPHA</a:t>
            </a:r>
            <a:endParaRPr sz="1186"/>
          </a:p>
        </p:txBody>
      </p:sp>
      <p:pic>
        <p:nvPicPr>
          <p:cNvPr id="258" name="Google Shape;258;p29" title="image (27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1273" y="1170125"/>
            <a:ext cx="1881923" cy="21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SURAT PERINGATAN (SP)</a:t>
            </a:r>
            <a:endParaRPr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408550" y="3361396"/>
            <a:ext cx="37470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Apabila mendapatkan SP 1 maka:</a:t>
            </a:r>
            <a:br>
              <a:rPr lang="en" sz="1300"/>
            </a:br>
            <a:r>
              <a:rPr lang="en" sz="1300"/>
              <a:t>Selama 3 hari berturut - turut gaji dipotong 50% dari gaji harian.</a:t>
            </a:r>
            <a:endParaRPr sz="1300"/>
          </a:p>
        </p:txBody>
      </p:sp>
      <p:pic>
        <p:nvPicPr>
          <p:cNvPr id="265" name="Google Shape;265;p30" title="image (17).png"/>
          <p:cNvPicPr preferRelativeResize="0"/>
          <p:nvPr/>
        </p:nvPicPr>
        <p:blipFill rotWithShape="1">
          <a:blip r:embed="rId3">
            <a:alphaModFix/>
          </a:blip>
          <a:srcRect b="26627" l="0" r="0" t="0"/>
          <a:stretch/>
        </p:blipFill>
        <p:spPr>
          <a:xfrm>
            <a:off x="925050" y="1104178"/>
            <a:ext cx="2605575" cy="21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 title="image (18).png"/>
          <p:cNvPicPr preferRelativeResize="0"/>
          <p:nvPr/>
        </p:nvPicPr>
        <p:blipFill rotWithShape="1">
          <a:blip r:embed="rId4">
            <a:alphaModFix/>
          </a:blip>
          <a:srcRect b="26627" l="0" r="0" t="0"/>
          <a:stretch/>
        </p:blipFill>
        <p:spPr>
          <a:xfrm>
            <a:off x="5609950" y="1104176"/>
            <a:ext cx="2605575" cy="21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0"/>
          <p:cNvSpPr txBox="1"/>
          <p:nvPr>
            <p:ph idx="1" type="body"/>
          </p:nvPr>
        </p:nvSpPr>
        <p:spPr>
          <a:xfrm>
            <a:off x="5039238" y="3373908"/>
            <a:ext cx="37470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Apabila mendapatkan SP 2 maka:</a:t>
            </a:r>
            <a:br>
              <a:rPr lang="en" sz="1300"/>
            </a:br>
            <a:r>
              <a:rPr lang="en" sz="1300"/>
              <a:t>Selama 7 hari berturut - turut gaji dipotong 50% dari gaji harian.</a:t>
            </a:r>
            <a:endParaRPr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PRESENSI &amp; PAYROLL - GENERAL OPERATING</a:t>
            </a:r>
            <a:endParaRPr/>
          </a:p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exend Medium"/>
                <a:ea typeface="Lexend Medium"/>
                <a:cs typeface="Lexend Medium"/>
                <a:sym typeface="Lexend Medium"/>
              </a:rPr>
              <a:t>PREPARATION:</a:t>
            </a:r>
            <a:endParaRPr sz="9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Pastikan Data pada Sheet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DB Employee</a:t>
            </a:r>
            <a:r>
              <a:rPr lang="en" sz="900">
                <a:latin typeface="Lexend ExtraLight"/>
                <a:ea typeface="Lexend ExtraLight"/>
                <a:cs typeface="Lexend ExtraLight"/>
                <a:sym typeface="Lexend ExtraLight"/>
              </a:rPr>
              <a:t> </a:t>
            </a:r>
            <a:r>
              <a:rPr lang="en" sz="900"/>
              <a:t>diisi secara lengkap dan akurat.</a:t>
            </a:r>
            <a:endParaRPr sz="900"/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Pastikan Data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Column ID Employee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(C)</a:t>
            </a:r>
            <a:r>
              <a:rPr lang="en" sz="900"/>
              <a:t> pada Sheet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DB Employee</a:t>
            </a:r>
            <a:r>
              <a:rPr lang="en" sz="900"/>
              <a:t> sama dengan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Column No (A)</a:t>
            </a:r>
            <a:r>
              <a:rPr lang="en" sz="900"/>
              <a:t> pada Sheet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Data Rekap Presensi</a:t>
            </a:r>
            <a:r>
              <a:rPr lang="en" sz="900"/>
              <a:t>.</a:t>
            </a:r>
            <a:endParaRPr sz="900"/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Pastikan Data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	</a:t>
            </a:r>
            <a:r>
              <a:rPr lang="en" sz="900"/>
              <a:t> pada Sheet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Shift Schedule</a:t>
            </a:r>
            <a:r>
              <a:rPr lang="en" sz="900"/>
              <a:t> telah diisi secara lengkap dan akurat.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exend Medium"/>
                <a:ea typeface="Lexend Medium"/>
                <a:cs typeface="Lexend Medium"/>
                <a:sym typeface="Lexend Medium"/>
              </a:rPr>
              <a:t>OPERATING:</a:t>
            </a:r>
            <a:endParaRPr sz="9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Copy - Paste Data Tarikan Fingerprint ke Sheet Data Rekap Presensi pada Column A3.</a:t>
            </a:r>
            <a:endParaRPr sz="900"/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Perhatikan data Absensi yang membutuhkan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Manual Input </a:t>
            </a:r>
            <a:r>
              <a:rPr lang="en" sz="900"/>
              <a:t>pada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Tabel Status Presensi (Column GS:HX) </a:t>
            </a:r>
            <a:r>
              <a:rPr lang="en" sz="900"/>
              <a:t>untuk Status Izin (I), Izin Disetujui (IS), Alpha (A), Sakit (S), Cuti (C), Cuti Melahirkan (CL), Skorsing (SKR), Dirumahkan (DRM), serta </a:t>
            </a:r>
            <a:r>
              <a:rPr i="1" lang="en" sz="900">
                <a:latin typeface="Lexend Medium"/>
                <a:ea typeface="Lexend Medium"/>
                <a:cs typeface="Lexend Medium"/>
                <a:sym typeface="Lexend Medium"/>
              </a:rPr>
              <a:t>Tabel Rekap Tidak Finger (Column KN:LS)</a:t>
            </a:r>
            <a:r>
              <a:rPr lang="en" sz="900"/>
              <a:t> untuk Status Tidak Finger 1x (F) &amp; Tidak Finger 2x (FF).</a:t>
            </a:r>
            <a:endParaRPr sz="900"/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Jika ada yang Cuti Melahirkan (CL), inputkan pada Sheet DB C</a:t>
            </a:r>
            <a:endParaRPr sz="900"/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Jika terjadi pelanggaran yang menyebabkan Penggantian Kerugian, maka input secara manual pada Sheet Payroll Produksi di bagian Potongan Kerugian (</a:t>
            </a:r>
            <a:endParaRPr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REKAP PRESENSI &amp; PAYROLL</a:t>
            </a:r>
            <a:endParaRPr/>
          </a:p>
        </p:txBody>
      </p:sp>
      <p:pic>
        <p:nvPicPr>
          <p:cNvPr id="279" name="Google Shape;2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170125"/>
            <a:ext cx="4792750" cy="35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REKAP PRESENSI &amp; PAYROLL</a:t>
            </a:r>
            <a:endParaRPr/>
          </a:p>
        </p:txBody>
      </p:sp>
      <p:pic>
        <p:nvPicPr>
          <p:cNvPr id="285" name="Google Shape;2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484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